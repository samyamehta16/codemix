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6596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Evidence-Aware Fake News Detection for</a:t>
            </a:r>
          </a:p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Tamil-English Code-Mixed Social Media</a:t>
            </a:r>
          </a:p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using IndicBERT, MuRIL and LLMs</a:t>
            </a:r>
          </a:p>
        </p:txBody>
      </p:sp>
      <p:sp>
        <p:nvSpPr>
          <p:cNvPr id="3" name="Rectangle 2"/>
          <p:cNvSpPr/>
          <p:nvPr/>
        </p:nvSpPr>
        <p:spPr>
          <a:xfrm>
            <a:off x="4480560" y="3703320"/>
            <a:ext cx="3200400" cy="381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DDEAF7"/>
                </a:solidFill>
                <a:latin typeface="Calibri"/>
              </a:rPr>
              <a:t>Project Review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8C9DE"/>
                </a:solidFill>
                <a:latin typeface="Calibri"/>
              </a:rPr>
              <a:t>A hybrid approach: fine-tuned transformer baselines + a retrieval-grounded LLM verification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47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DEAF7"/>
                </a:solidFill>
                <a:latin typeface="Calibri"/>
              </a:rPr>
              <a:t>Why fake-news detection on Tamil-English social media is hard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▸  Fake news spreads rapidly on Tamil social media (WhatsApp forwards, YouTube comments, Facebook/Instagram posts) — often in Tamil-English code-mixed form.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▸  Code-mixing breaks standard NLP tools: text mixes Tamil script, romanized Tamil ("Tanglish"), and English in the same sentence.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▸    e.g. "RBI 5000 rupees note release pannitanga nu news la varudhu"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▸  Most fake-news datasets/classifiers are trained once and frozen — they cannot know about a rumor that started yesterday.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▸  A claim is fake/real because of real-world facts, not fixed lexical style — pure pattern-matching classifiers can be fooled or become stale.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60520"/>
            <a:ext cx="10332720" cy="1554480"/>
          </a:xfrm>
          <a:prstGeom prst="roundRect">
            <a:avLst/>
          </a:prstGeom>
          <a:solidFill>
            <a:srgbClr val="14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Core Question:</a:t>
            </a:r>
            <a:br/>
            <a:r>
              <a:rPr sz="1800" b="1">
                <a:solidFill>
                  <a:srgbClr val="FFFFFF"/>
                </a:solidFill>
                <a:latin typeface="Calibri"/>
              </a:rPr>
              <a:t>Can we combine the speed of fine-tuned transformer classifiers with the</a:t>
            </a:r>
            <a:br/>
            <a:r>
              <a:rPr sz="1800" b="1">
                <a:solidFill>
                  <a:srgbClr val="FFFFFF"/>
                </a:solidFill>
                <a:latin typeface="Calibri"/>
              </a:rPr>
              <a:t>traceability of live, evidence-grounded LLM reasoning — for code-mixed Tamil text?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9" name="TextBox 8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1/14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47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Objectives &amp; Functional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Project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▸  Detect fake news in Tamil-English code-mixed text using two complementary approaches.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▸  Build fine-tuned baseline classifiers (MuRIL, IndicBERT) on labeled headlines.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▸  Build an evidence-aware LLM pipeline that retrieves live web evidence before making a verdict.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▸  Ensure retrieval modules never themselves judge truth — only the final LLM stage does, grounded in retrieved evidence.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▸  Compare both approaches on accuracy, explainability, and adaptability to new claims.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Functional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6002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▸  FR1: Clean and preprocess Tamil-English text (normalize, strip emoji/noise, preserve numeric claims).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▸  FR2: Fine-tune transformer classifiers for REAL/FAKE headline classification.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▸  FR3: Extract a checkable factual claim from raw social-media text via LLM.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▸  FR4: Generate diverse search queries and retrieve live web results for the claim.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▸  FR5: Extract, rank (relevance + authority + freshness) and cache evidence.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▸  FR6: Produce a grounded verdict (REAL/FAKE/MISLEADING/UNVERIFIED) citing specific evidence IDs.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▸  FR7: Gracefully report — never fabricate — when an API/key is unavailable.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2/14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47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System Architecture — High-Level Block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DEAF7"/>
                </a:solidFill>
                <a:latin typeface="Calibri"/>
              </a:rPr>
              <a:t>Two complementary, independently-testable pipelines sharing the same input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63440" y="1234440"/>
            <a:ext cx="2834640" cy="594360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Tamil-English Code-Mixed</a:t>
            </a:r>
            <a:br/>
            <a:r>
              <a:rPr sz="1400" b="1">
                <a:solidFill>
                  <a:srgbClr val="FFFFFF"/>
                </a:solidFill>
                <a:latin typeface="Calibri"/>
              </a:rPr>
              <a:t>Social Media Text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3017520" y="1828800"/>
            <a:ext cx="2468880" cy="502920"/>
          </a:xfrm>
          <a:prstGeom prst="line">
            <a:avLst/>
          </a:prstGeom>
          <a:ln w="28575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858000" y="1828800"/>
            <a:ext cx="2286000" cy="502920"/>
          </a:xfrm>
          <a:prstGeom prst="line">
            <a:avLst/>
          </a:prstGeom>
          <a:ln w="28575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4400" y="2377440"/>
            <a:ext cx="4206240" cy="457200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APPROACH A — Fine-Tuned Classifiers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971800"/>
            <a:ext cx="4206240" cy="594360"/>
          </a:xfrm>
          <a:prstGeom prst="round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/>
          <a:lstStyle/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Preprocess &amp; Clean Text</a:t>
            </a:r>
            <a:br/>
            <a:r>
              <a:rPr sz="1200" b="0">
                <a:solidFill>
                  <a:srgbClr val="222222"/>
                </a:solidFill>
                <a:latin typeface="Calibri"/>
              </a:rPr>
              <a:t>(src/fake_news_classifier/preprocess.py)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17520" y="3566160"/>
            <a:ext cx="0" cy="228600"/>
          </a:xfrm>
          <a:prstGeom prst="line">
            <a:avLst/>
          </a:prstGeom>
          <a:ln w="28575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4400" y="3794760"/>
            <a:ext cx="4206240" cy="594360"/>
          </a:xfrm>
          <a:prstGeom prst="round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/>
          <a:lstStyle/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MuRIL / IndicBERTv2</a:t>
            </a:r>
            <a:br/>
            <a:r>
              <a:rPr sz="1200" b="0">
                <a:solidFill>
                  <a:srgbClr val="222222"/>
                </a:solidFill>
                <a:latin typeface="Calibri"/>
              </a:rPr>
              <a:t>Fine-tuned Sequence Classifier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17520" y="4389120"/>
            <a:ext cx="0" cy="228600"/>
          </a:xfrm>
          <a:prstGeom prst="line">
            <a:avLst/>
          </a:prstGeom>
          <a:ln w="28575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4400" y="4617720"/>
            <a:ext cx="4206240" cy="502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Verdict: REAL / FAKE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2377440"/>
            <a:ext cx="4206240" cy="457200"/>
          </a:xfrm>
          <a:prstGeom prst="roundRect">
            <a:avLst/>
          </a:prstGeom>
          <a:solidFill>
            <a:srgbClr val="14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APPROACH B — Evidence-Aware LLM Pipeline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2971800"/>
            <a:ext cx="4206240" cy="594360"/>
          </a:xfrm>
          <a:prstGeom prst="round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/>
          <a:lstStyle/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Claim Extraction → Query Generation</a:t>
            </a:r>
            <a:br/>
            <a:r>
              <a:rPr sz="1200" b="0">
                <a:solidFill>
                  <a:srgbClr val="222222"/>
                </a:solidFill>
                <a:latin typeface="Calibri"/>
              </a:rPr>
              <a:t>(LLM, src/verification/)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0" y="3566160"/>
            <a:ext cx="0" cy="228600"/>
          </a:xfrm>
          <a:prstGeom prst="line">
            <a:avLst/>
          </a:prstGeom>
          <a:ln w="28575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040880" y="3794760"/>
            <a:ext cx="4206240" cy="594360"/>
          </a:xfrm>
          <a:prstGeom prst="round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/>
          <a:lstStyle/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Web Search → Extraction → Ranking</a:t>
            </a:r>
            <a:br/>
            <a:r>
              <a:rPr sz="1200" b="0">
                <a:solidFill>
                  <a:srgbClr val="222222"/>
                </a:solidFill>
                <a:latin typeface="Calibri"/>
              </a:rPr>
              <a:t>(Serper.dev, trafilatura, TF-IDF/BM25)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0" y="4389120"/>
            <a:ext cx="0" cy="228600"/>
          </a:xfrm>
          <a:prstGeom prst="line">
            <a:avLst/>
          </a:prstGeom>
          <a:ln w="28575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040880" y="4617720"/>
            <a:ext cx="4206240" cy="502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Verdict: REAL / FAKE / MISLEADING / UNVERIFIED</a:t>
            </a:r>
            <a:br/>
            <a:r>
              <a:rPr sz="1300" b="1">
                <a:solidFill>
                  <a:srgbClr val="FFFFFF"/>
                </a:solidFill>
                <a:latin typeface="Calibri"/>
              </a:rPr>
              <a:t>+ cited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492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A5A5A"/>
                </a:solidFill>
                <a:latin typeface="Calibri"/>
              </a:rPr>
              <a:t>Both approaches consume the same raw input but reason differently: Approach A learns static patterns; Approach B</a:t>
            </a:r>
          </a:p>
          <a:p>
            <a:pPr algn="ctr"/>
            <a:r>
              <a:rPr sz="1300" b="0" i="1">
                <a:solidFill>
                  <a:srgbClr val="5A5A5A"/>
                </a:solidFill>
                <a:latin typeface="Calibri"/>
              </a:rPr>
              <a:t>retrieves fresh evidence every time and grounds its verdict in cited sources.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23" name="TextBox 22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3/14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47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Approach B — Evidence-Aware Pipeline (Detailed Architecture)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DEAF7"/>
                </a:solidFill>
                <a:latin typeface="Calibri"/>
              </a:rPr>
              <a:t>6-stage claim-to-verdict pipeline (src/verification/)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1691640" cy="1417320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Claim</a:t>
            </a:r>
            <a:br/>
            <a:r>
              <a:rPr sz="1300" b="1">
                <a:solidFill>
                  <a:srgbClr val="FFFFFF"/>
                </a:solidFill>
                <a:latin typeface="Calibri"/>
              </a:rPr>
              <a:t>Extraction</a:t>
            </a:r>
          </a:p>
        </p:txBody>
      </p:sp>
      <p:sp>
        <p:nvSpPr>
          <p:cNvPr id="7" name="Oval 6"/>
          <p:cNvSpPr/>
          <p:nvPr/>
        </p:nvSpPr>
        <p:spPr>
          <a:xfrm>
            <a:off x="521208" y="1892808"/>
            <a:ext cx="457200" cy="457200"/>
          </a:xfrm>
          <a:prstGeom prst="ellipse">
            <a:avLst/>
          </a:prstGeom>
          <a:solidFill>
            <a:srgbClr val="0B2A4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39312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  <a:latin typeface="Calibri"/>
              </a:rPr>
              <a:t>Detect factual claim,</a:t>
            </a:r>
          </a:p>
          <a:p>
            <a:pPr algn="ctr"/>
            <a:r>
              <a:rPr sz="1050" b="0" i="0">
                <a:solidFill>
                  <a:srgbClr val="222222"/>
                </a:solidFill>
                <a:latin typeface="Calibri"/>
              </a:rPr>
              <a:t>normalize to English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60" y="2857500"/>
            <a:ext cx="256032" cy="0"/>
          </a:xfrm>
          <a:prstGeom prst="line">
            <a:avLst/>
          </a:prstGeom>
          <a:ln w="31750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50592" y="2148840"/>
            <a:ext cx="1691640" cy="1417320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Query</a:t>
            </a:r>
            <a:br/>
            <a:r>
              <a:rPr sz="1300" b="1">
                <a:solidFill>
                  <a:srgbClr val="FFFFFF"/>
                </a:solidFill>
                <a:latin typeface="Calibri"/>
              </a:rPr>
              <a:t>Generation</a:t>
            </a:r>
          </a:p>
        </p:txBody>
      </p:sp>
      <p:sp>
        <p:nvSpPr>
          <p:cNvPr id="11" name="Oval 10"/>
          <p:cNvSpPr/>
          <p:nvPr/>
        </p:nvSpPr>
        <p:spPr>
          <a:xfrm>
            <a:off x="2468880" y="1892808"/>
            <a:ext cx="457200" cy="457200"/>
          </a:xfrm>
          <a:prstGeom prst="ellipse">
            <a:avLst/>
          </a:prstGeom>
          <a:solidFill>
            <a:srgbClr val="0B2A4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4872" y="3639312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  <a:latin typeface="Calibri"/>
              </a:rPr>
              <a:t>Claim → 3 diverse</a:t>
            </a:r>
          </a:p>
          <a:p>
            <a:pPr algn="ctr"/>
            <a:r>
              <a:rPr sz="1050" b="0" i="0">
                <a:solidFill>
                  <a:srgbClr val="222222"/>
                </a:solidFill>
                <a:latin typeface="Calibri"/>
              </a:rPr>
              <a:t>search queries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42232" y="2857500"/>
            <a:ext cx="256032" cy="0"/>
          </a:xfrm>
          <a:prstGeom prst="line">
            <a:avLst/>
          </a:prstGeom>
          <a:ln w="31750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98264" y="2148840"/>
            <a:ext cx="1691640" cy="1417320"/>
          </a:xfrm>
          <a:prstGeom prst="roundRect">
            <a:avLst/>
          </a:prstGeom>
          <a:solidFill>
            <a:srgbClr val="14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Web</a:t>
            </a:r>
            <a:br/>
            <a:r>
              <a:rPr sz="1300" b="1">
                <a:solidFill>
                  <a:srgbClr val="FFFFFF"/>
                </a:solidFill>
                <a:latin typeface="Calibri"/>
              </a:rPr>
              <a:t>Search</a:t>
            </a:r>
          </a:p>
        </p:txBody>
      </p:sp>
      <p:sp>
        <p:nvSpPr>
          <p:cNvPr id="15" name="Oval 14"/>
          <p:cNvSpPr/>
          <p:nvPr/>
        </p:nvSpPr>
        <p:spPr>
          <a:xfrm>
            <a:off x="4416552" y="1892808"/>
            <a:ext cx="457200" cy="457200"/>
          </a:xfrm>
          <a:prstGeom prst="ellipse">
            <a:avLst/>
          </a:prstGeom>
          <a:solidFill>
            <a:srgbClr val="0B2A4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2544" y="3639312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  <a:latin typeface="Calibri"/>
              </a:rPr>
              <a:t>Serper.dev API →</a:t>
            </a:r>
          </a:p>
          <a:p>
            <a:pPr algn="ctr"/>
            <a:r>
              <a:rPr sz="1050" b="0" i="0">
                <a:solidFill>
                  <a:srgbClr val="222222"/>
                </a:solidFill>
                <a:latin typeface="Calibri"/>
              </a:rPr>
              <a:t>search results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9904" y="2857500"/>
            <a:ext cx="256032" cy="0"/>
          </a:xfrm>
          <a:prstGeom prst="line">
            <a:avLst/>
          </a:prstGeom>
          <a:ln w="31750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45936" y="2148840"/>
            <a:ext cx="1691640" cy="1417320"/>
          </a:xfrm>
          <a:prstGeom prst="roundRect">
            <a:avLst/>
          </a:prstGeom>
          <a:solidFill>
            <a:srgbClr val="14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Webpage</a:t>
            </a:r>
            <a:br/>
            <a:r>
              <a:rPr sz="1300" b="1">
                <a:solidFill>
                  <a:srgbClr val="FFFFFF"/>
                </a:solidFill>
                <a:latin typeface="Calibri"/>
              </a:rPr>
              <a:t>Extraction</a:t>
            </a:r>
          </a:p>
        </p:txBody>
      </p:sp>
      <p:sp>
        <p:nvSpPr>
          <p:cNvPr id="19" name="Oval 18"/>
          <p:cNvSpPr/>
          <p:nvPr/>
        </p:nvSpPr>
        <p:spPr>
          <a:xfrm>
            <a:off x="6364224" y="1892808"/>
            <a:ext cx="457200" cy="457200"/>
          </a:xfrm>
          <a:prstGeom prst="ellipse">
            <a:avLst/>
          </a:prstGeom>
          <a:solidFill>
            <a:srgbClr val="0B2A4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3639312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  <a:latin typeface="Calibri"/>
              </a:rPr>
              <a:t>Fetch URL, extract</a:t>
            </a:r>
          </a:p>
          <a:p>
            <a:pPr algn="ctr"/>
            <a:r>
              <a:rPr sz="1050" b="0" i="0">
                <a:solidFill>
                  <a:srgbClr val="222222"/>
                </a:solidFill>
                <a:latin typeface="Calibri"/>
              </a:rPr>
              <a:t>article text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37576" y="2857500"/>
            <a:ext cx="256032" cy="0"/>
          </a:xfrm>
          <a:prstGeom prst="line">
            <a:avLst/>
          </a:prstGeom>
          <a:ln w="31750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293608" y="2148840"/>
            <a:ext cx="1691640" cy="1417320"/>
          </a:xfrm>
          <a:prstGeom prst="round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Evidence</a:t>
            </a:r>
            <a:br/>
            <a:r>
              <a:rPr sz="1300" b="1">
                <a:solidFill>
                  <a:srgbClr val="FFFFFF"/>
                </a:solidFill>
                <a:latin typeface="Calibri"/>
              </a:rPr>
              <a:t>Ranking</a:t>
            </a:r>
          </a:p>
        </p:txBody>
      </p:sp>
      <p:sp>
        <p:nvSpPr>
          <p:cNvPr id="23" name="Oval 22"/>
          <p:cNvSpPr/>
          <p:nvPr/>
        </p:nvSpPr>
        <p:spPr>
          <a:xfrm>
            <a:off x="8311896" y="1892808"/>
            <a:ext cx="457200" cy="457200"/>
          </a:xfrm>
          <a:prstGeom prst="ellipse">
            <a:avLst/>
          </a:prstGeom>
          <a:solidFill>
            <a:srgbClr val="0B2A4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639312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  <a:latin typeface="Calibri"/>
              </a:rPr>
              <a:t>Relevance + Authority</a:t>
            </a:r>
          </a:p>
          <a:p>
            <a:pPr algn="ctr"/>
            <a:r>
              <a:rPr sz="1050" b="0" i="0">
                <a:solidFill>
                  <a:srgbClr val="222222"/>
                </a:solidFill>
                <a:latin typeface="Calibri"/>
              </a:rPr>
              <a:t>+ Freshness score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985248" y="2857500"/>
            <a:ext cx="256032" cy="0"/>
          </a:xfrm>
          <a:prstGeom prst="line">
            <a:avLst/>
          </a:prstGeom>
          <a:ln w="31750">
            <a:solidFill>
              <a:srgbClr val="5A5A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241280" y="2148840"/>
            <a:ext cx="1691640" cy="1417320"/>
          </a:xfrm>
          <a:prstGeom prst="round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LLM</a:t>
            </a:r>
            <a:br/>
            <a:r>
              <a:rPr sz="1300" b="1">
                <a:solidFill>
                  <a:srgbClr val="FFFFFF"/>
                </a:solidFill>
                <a:latin typeface="Calibri"/>
              </a:rPr>
              <a:t>Verifier</a:t>
            </a:r>
          </a:p>
        </p:txBody>
      </p:sp>
      <p:sp>
        <p:nvSpPr>
          <p:cNvPr id="27" name="Oval 26"/>
          <p:cNvSpPr/>
          <p:nvPr/>
        </p:nvSpPr>
        <p:spPr>
          <a:xfrm>
            <a:off x="10259568" y="1892808"/>
            <a:ext cx="457200" cy="457200"/>
          </a:xfrm>
          <a:prstGeom prst="ellipse">
            <a:avLst/>
          </a:prstGeom>
          <a:solidFill>
            <a:srgbClr val="0B2A4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60" y="3639312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  <a:latin typeface="Calibri"/>
              </a:rPr>
              <a:t>Claim vs Evidence →</a:t>
            </a:r>
          </a:p>
          <a:p>
            <a:pPr algn="ctr"/>
            <a:r>
              <a:rPr sz="1050" b="0" i="0">
                <a:solidFill>
                  <a:srgbClr val="222222"/>
                </a:solidFill>
                <a:latin typeface="Calibri"/>
              </a:rPr>
              <a:t>Grounded verdict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2120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B2A4A"/>
                </a:solidFill>
                <a:latin typeface="Calibri"/>
              </a:rPr>
              <a:t>Design principle: modules 3–5 (Information Retrieval) never judge truth — only module 6 outputs a verdict, and only by citing evidence it was actually given.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6235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A5A5A"/>
                </a:solidFill>
                <a:latin typeface="Calibri"/>
              </a:rPr>
              <a:t>Orchestrated by pipeline.py — stops immediately with a clear reason if any stage can't proceed (no API key, no claim, no results) rather than guessing.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32" name="TextBox 31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4/14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47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Modules — What Each Component Does (and Does Not Do)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642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4389120"/>
                <a:gridCol w="3840480"/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 anchor="ctr" marL="90000" marR="90000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Does</a:t>
                      </a:r>
                    </a:p>
                  </a:txBody>
                  <a:tcPr anchor="ctr" marL="90000" marR="90000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Does NOT</a:t>
                      </a:r>
                    </a:p>
                  </a:txBody>
                  <a:tcPr anchor="ctr" marL="90000" marR="90000">
                    <a:solidFill>
                      <a:srgbClr val="0B2A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1. Claim Extraction</a:t>
                      </a:r>
                    </a:p>
                  </a:txBody>
                  <a:tcPr anchor="ctr" marL="90000" marR="9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Detects checkable claim; normalizes to one English sentence</a:t>
                      </a:r>
                    </a:p>
                  </a:txBody>
                  <a:tcPr anchor="ctr" marL="90000" marR="9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Judge whether the claim is true</a:t>
                      </a:r>
                    </a:p>
                  </a:txBody>
                  <a:tcPr anchor="ctr" marL="90000" marR="90000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2. Query Generation</a:t>
                      </a:r>
                    </a:p>
                  </a:txBody>
                  <a:tcPr anchor="ctr" marL="90000" marR="90000"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Turns claim into 3+ diverse search queries</a:t>
                      </a:r>
                    </a:p>
                  </a:txBody>
                  <a:tcPr anchor="ctr" marL="90000" marR="90000"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Search the web itself</a:t>
                      </a:r>
                    </a:p>
                  </a:txBody>
                  <a:tcPr anchor="ctr" marL="90000" marR="90000">
                    <a:solidFill>
                      <a:srgbClr val="F0F1F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3. Web Search</a:t>
                      </a:r>
                    </a:p>
                  </a:txBody>
                  <a:tcPr anchor="ctr" marL="90000" marR="9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Calls Serper.dev API, returns raw results</a:t>
                      </a:r>
                    </a:p>
                  </a:txBody>
                  <a:tcPr anchor="ctr" marL="90000" marR="9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Rank, read, or judge the results</a:t>
                      </a:r>
                    </a:p>
                  </a:txBody>
                  <a:tcPr anchor="ctr" marL="90000" marR="90000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4. Webpage Extraction</a:t>
                      </a:r>
                    </a:p>
                  </a:txBody>
                  <a:tcPr anchor="ctr" marL="90000" marR="90000"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Fetches URL, extracts readable article text</a:t>
                      </a:r>
                    </a:p>
                  </a:txBody>
                  <a:tcPr anchor="ctr" marL="90000" marR="90000"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Decide if page supports/contradicts claim</a:t>
                      </a:r>
                    </a:p>
                  </a:txBody>
                  <a:tcPr anchor="ctr" marL="90000" marR="90000">
                    <a:solidFill>
                      <a:srgbClr val="F0F1F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5. Evidence Ranking</a:t>
                      </a:r>
                    </a:p>
                  </a:txBody>
                  <a:tcPr anchor="ctr" marL="90000" marR="9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Scores by relevance + authority + freshness</a:t>
                      </a:r>
                    </a:p>
                  </a:txBody>
                  <a:tcPr anchor="ctr" marL="90000" marR="9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Decide truth — low rank ≠ excluded</a:t>
                      </a:r>
                    </a:p>
                  </a:txBody>
                  <a:tcPr anchor="ctr" marL="90000" marR="90000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6. LLM Verifier</a:t>
                      </a:r>
                    </a:p>
                  </a:txBody>
                  <a:tcPr anchor="ctr" marL="90000" marR="90000"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ONLY module producing a verdict, grounded in evidence given</a:t>
                      </a:r>
                    </a:p>
                  </a:txBody>
                  <a:tcPr anchor="ctr" marL="90000" marR="90000"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Search the web or invent evidence</a:t>
                      </a:r>
                    </a:p>
                  </a:txBody>
                  <a:tcPr anchor="ctr" marL="90000" marR="90000"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7" name="TextBox 6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5/14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47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Experimental Setup — Approach A (Baseline Classifiers)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▸  Tamil-News-Headlines.csv — 5,226 headlines (Tamil script + English translation)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▸  Authenticity=0 → REAL (2022 real tech/general news)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▸  Authenticity=1 → FAKE (fact-checked false claims, ~2018-19)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▸  After cleaning &amp; dedup: 5,171 headlines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▸  Stratified 80/10/10 split → Train 4,136 / Dev 517 / Test 518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Models &amp; Training Config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▸  MuRIL (google/muril-base-cased) — BERT-base, 17 Indian languages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▸  IndicBERT v2 (ai4bharat/IndicBERTv2-MLM-only) — AI4Bharat BERT-base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▸  Task head: AutoModelForSequenceClassification, 2 labels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▸  4 epochs · batch size 16 · LR 2e-5 · max length 64 tokens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▸  Best checkpoint by macro-F1 on dev set; trained on CPU (no GPU available)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846320"/>
            <a:ext cx="10881360" cy="1234440"/>
          </a:xfrm>
          <a:prstGeom prst="roundRect">
            <a:avLst/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/>
          <a:lstStyle/>
          <a:p>
            <a:pPr algn="ctr"/>
            <a:r>
              <a:rPr sz="1500" b="0">
                <a:solidFill>
                  <a:srgbClr val="8A4B08"/>
                </a:solidFill>
                <a:latin typeface="Calibri"/>
              </a:rPr>
              <a:t>Known limitation: REAL/FAKE rows differ in source, topic and era — model may partly learn</a:t>
            </a:r>
            <a:br/>
            <a:r>
              <a:rPr sz="1500" b="0">
                <a:solidFill>
                  <a:srgbClr val="8A4B08"/>
                </a:solidFill>
                <a:latin typeface="Calibri"/>
              </a:rPr>
              <a:t>"writing-era style" rather than pure fake-ness. Also trained on pure Tamil script, not code-mixed 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11" name="TextBox 10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6/14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47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Results — Approach A (Baseline Classifiers)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DEAF7"/>
                </a:solidFill>
                <a:latin typeface="Calibri"/>
              </a:rPr>
              <a:t>Evaluated on held-out test set (518 headlines)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417320"/>
          <a:ext cx="103327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645920"/>
                <a:gridCol w="2011680"/>
                <a:gridCol w="1737360"/>
                <a:gridCol w="137160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Precision (FAKE)</a:t>
                      </a:r>
                    </a:p>
                  </a:txBody>
                  <a:tcPr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Recall (FAKE)</a:t>
                      </a:r>
                    </a:p>
                  </a:txBody>
                  <a:tcPr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F1 (FAKE)</a:t>
                      </a:r>
                    </a:p>
                  </a:txBody>
                  <a:tcPr anchor="ctr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F1 (macro)</a:t>
                      </a:r>
                    </a:p>
                  </a:txBody>
                  <a:tcPr anchor="ctr">
                    <a:solidFill>
                      <a:srgbClr val="0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7D32"/>
                          </a:solidFill>
                        </a:rPr>
                        <a:t>IndicBERT v2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7D32"/>
                          </a:solidFill>
                        </a:rPr>
                        <a:t>99.03%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7D32"/>
                          </a:solidFill>
                        </a:rPr>
                        <a:t>99.65%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7D32"/>
                          </a:solidFill>
                        </a:rPr>
                        <a:t>98.62%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7D32"/>
                          </a:solidFill>
                        </a:rPr>
                        <a:t>99.13%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7D32"/>
                          </a:solidFill>
                        </a:rPr>
                        <a:t>99.02%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22222"/>
                          </a:solidFill>
                        </a:rPr>
                        <a:t>MuRIL</a:t>
                      </a:r>
                    </a:p>
                  </a:txBody>
                  <a:tcPr anchor="ctr"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22222"/>
                          </a:solidFill>
                        </a:rPr>
                        <a:t>98.65%</a:t>
                      </a:r>
                    </a:p>
                  </a:txBody>
                  <a:tcPr anchor="ctr"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22222"/>
                          </a:solidFill>
                        </a:rPr>
                        <a:t>98.96%</a:t>
                      </a:r>
                    </a:p>
                  </a:txBody>
                  <a:tcPr anchor="ctr"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22222"/>
                          </a:solidFill>
                        </a:rPr>
                        <a:t>98.62%</a:t>
                      </a:r>
                    </a:p>
                  </a:txBody>
                  <a:tcPr anchor="ctr"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22222"/>
                          </a:solidFill>
                        </a:rPr>
                        <a:t>98.79%</a:t>
                      </a:r>
                    </a:p>
                  </a:txBody>
                  <a:tcPr anchor="ctr"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22222"/>
                          </a:solidFill>
                        </a:rPr>
                        <a:t>98.63%</a:t>
                      </a:r>
                    </a:p>
                  </a:txBody>
                  <a:tcPr anchor="ctr"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30632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B2A4A"/>
                </a:solidFill>
                <a:latin typeface="Calibri"/>
              </a:rPr>
              <a:t>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▸  IndicBERT v2 marginally outperforms MuRIL on every metric — both are near-ceiling on this dataset.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▸  Near-ceiling performance is expected given the source/era gap between REAL and FAKE classes — should be read as "separability of this dataset's style gap", not a proven generalizable fake-news detection rate.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▸  Both models are lightweight enough to fine-tune fully on CPU (a few hours each) — no GPU required for this dataset size (~4-5k rows).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7/14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47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Results — Approach B (Live LLM Pipeline Demo)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DEAF7"/>
                </a:solidFill>
                <a:latin typeface="Calibri"/>
              </a:rPr>
              <a:t>Input: "RBI 5000 rupees note release pannitanga nu news la varudhu"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155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778240"/>
              </a:tblGrid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anchor="ctr" marL="90000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Output</a:t>
                      </a:r>
                    </a:p>
                  </a:txBody>
                  <a:tcPr anchor="ctr" marL="90000">
                    <a:solidFill>
                      <a:srgbClr val="0B2A4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</a:rPr>
                        <a:t>Normalized Claim</a:t>
                      </a:r>
                    </a:p>
                  </a:txBody>
                  <a:tcPr anchor="ctr" marL="9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"The news is reporting that the RBI has released the 5000 rupees note."</a:t>
                      </a:r>
                    </a:p>
                  </a:txBody>
                  <a:tcPr anchor="ctr" marL="90000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</a:rPr>
                        <a:t>Generated Queries</a:t>
                      </a:r>
                    </a:p>
                  </a:txBody>
                  <a:tcPr anchor="ctr" marL="90000"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RBI 5000 rupee note launch rumors · Reserve Bank new 5000 banknote · fake news RBI issuing 5000 currency</a:t>
                      </a:r>
                    </a:p>
                  </a:txBody>
                  <a:tcPr anchor="ctr" marL="90000">
                    <a:solidFill>
                      <a:srgbClr val="F0F1F3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</a:rPr>
                        <a:t>Search Results</a:t>
                      </a:r>
                    </a:p>
                  </a:txBody>
                  <a:tcPr anchor="ctr" marL="9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9 URLs retrieved (rbi.org.in, etnownews.com, instagram.com, facebook.com, youtube.com...)</a:t>
                      </a:r>
                    </a:p>
                  </a:txBody>
                  <a:tcPr anchor="ctr" marL="90000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</a:rPr>
                        <a:t>Extraction</a:t>
                      </a:r>
                    </a:p>
                  </a:txBody>
                  <a:tcPr anchor="ctr" marL="90000"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9 / 9 pages extracted successfully</a:t>
                      </a:r>
                    </a:p>
                  </a:txBody>
                  <a:tcPr anchor="ctr" marL="90000">
                    <a:solidFill>
                      <a:srgbClr val="F0F1F3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</a:rPr>
                        <a:t>Top Ranked Evidence</a:t>
                      </a:r>
                    </a:p>
                  </a:txBody>
                  <a:tcPr anchor="ctr" marL="9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E1: rbi.org.in (authority 1.0)   ·   E2: etnownews.com fact-check article (relevance 0.62)</a:t>
                      </a:r>
                    </a:p>
                  </a:txBody>
                  <a:tcPr anchor="ctr" marL="90000"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</a:rPr>
                        <a:t>Final Verdict</a:t>
                      </a:r>
                    </a:p>
                  </a:txBody>
                  <a:tcPr anchor="ctr" marL="90000"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B02A2A"/>
                          </a:solidFill>
                        </a:rPr>
                        <a:t>FAKE  ·  confidence 1.0  ·  relation: CONTRADICTS  ·  cites E2, E5</a:t>
                      </a:r>
                    </a:p>
                  </a:txBody>
                  <a:tcPr anchor="ctr" marL="90000"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5321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5A5A"/>
                </a:solidFill>
                <a:latin typeface="Calibri"/>
              </a:rPr>
              <a:t>Explanation (LLM, grounded in evidence): "The claim that the RBI is releasing a 5000 rupees note is false. According to the</a:t>
            </a:r>
          </a:p>
          <a:p>
            <a:pPr algn="l"/>
            <a:r>
              <a:rPr sz="1300" b="0" i="1">
                <a:solidFill>
                  <a:srgbClr val="5A5A5A"/>
                </a:solidFill>
                <a:latin typeface="Calibri"/>
              </a:rPr>
              <a:t>PIB Fact Check Unit, the viral message is fake, and no such announcement has been made by the RBI or Ministry of Finance."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9" name="TextBox 8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8/14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47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Approach A vs Approach B —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6984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3931920"/>
                <a:gridCol w="4114800"/>
              </a:tblGrid>
              <a:tr h="705394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90000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Approach A (MuRIL / IndicBERT)</a:t>
                      </a:r>
                    </a:p>
                  </a:txBody>
                  <a:tcPr anchor="ctr" marL="90000"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Approach B (LLM + Evidence)</a:t>
                      </a:r>
                    </a:p>
                  </a:txBody>
                  <a:tcPr anchor="ctr" marL="90000">
                    <a:solidFill>
                      <a:srgbClr val="0B2A4A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</a:rPr>
                        <a:t>Input</a:t>
                      </a:r>
                    </a:p>
                  </a:txBody>
                  <a:tcPr anchor="ctr" marL="9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</a:rPr>
                        <a:t>Headline text only</a:t>
                      </a:r>
                    </a:p>
                  </a:txBody>
                  <a:tcPr anchor="ctr" marL="9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</a:rPr>
                        <a:t>Comment / claim text</a:t>
                      </a:r>
                    </a:p>
                  </a:txBody>
                  <a:tcPr anchor="ctr" marL="90000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</a:rPr>
                        <a:t>Knowledge source</a:t>
                      </a:r>
                    </a:p>
                  </a:txBody>
                  <a:tcPr anchor="ctr" marL="90000"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</a:rPr>
                        <a:t>Frozen at training time</a:t>
                      </a:r>
                    </a:p>
                  </a:txBody>
                  <a:tcPr anchor="ctr" marL="90000"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</a:rPr>
                        <a:t>Live web search, every call</a:t>
                      </a:r>
                    </a:p>
                  </a:txBody>
                  <a:tcPr anchor="ctr" marL="90000">
                    <a:solidFill>
                      <a:srgbClr val="F0F1F3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</a:rPr>
                        <a:t>Output classes</a:t>
                      </a:r>
                    </a:p>
                  </a:txBody>
                  <a:tcPr anchor="ctr" marL="9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</a:rPr>
                        <a:t>REAL / FAKE</a:t>
                      </a:r>
                    </a:p>
                  </a:txBody>
                  <a:tcPr anchor="ctr" marL="9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</a:rPr>
                        <a:t>REAL / FAKE / MISLEADING / UNVERIFIED</a:t>
                      </a:r>
                    </a:p>
                  </a:txBody>
                  <a:tcPr anchor="ctr" marL="90000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</a:rPr>
                        <a:t>Explainability</a:t>
                      </a:r>
                    </a:p>
                  </a:txBody>
                  <a:tcPr anchor="ctr" marL="90000"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</a:rPr>
                        <a:t>None — just a label</a:t>
                      </a:r>
                    </a:p>
                  </a:txBody>
                  <a:tcPr anchor="ctr" marL="90000"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</a:rPr>
                        <a:t>Full explanation + cited sources</a:t>
                      </a:r>
                    </a:p>
                  </a:txBody>
                  <a:tcPr anchor="ctr" marL="90000">
                    <a:solidFill>
                      <a:srgbClr val="F0F1F3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</a:rPr>
                        <a:t>Cost per prediction</a:t>
                      </a:r>
                    </a:p>
                  </a:txBody>
                  <a:tcPr anchor="ctr" marL="9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</a:rPr>
                        <a:t>~Free after training</a:t>
                      </a:r>
                    </a:p>
                  </a:txBody>
                  <a:tcPr anchor="ctr" marL="9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</a:rPr>
                        <a:t>Multiple LLM + search API calls</a:t>
                      </a:r>
                    </a:p>
                  </a:txBody>
                  <a:tcPr anchor="ctr" marL="90000">
                    <a:solidFill>
                      <a:srgbClr val="FFFFFF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</a:rPr>
                        <a:t>Catches brand-new rumors?</a:t>
                      </a:r>
                    </a:p>
                  </a:txBody>
                  <a:tcPr anchor="ctr" marL="90000"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</a:rPr>
                        <a:t>No — limited to training patterns</a:t>
                      </a:r>
                    </a:p>
                  </a:txBody>
                  <a:tcPr anchor="ctr" marL="90000"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</a:rPr>
                        <a:t>Yes, in principle</a:t>
                      </a:r>
                    </a:p>
                  </a:txBody>
                  <a:tcPr anchor="ctr" marL="90000"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7" name="TextBox 6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9/14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47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Limitations &amp; Honest Caveats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▸  Baseline classifier dataset has a source/era confound — 99% accuracy reflects style separability, not a validated real-world detection rate.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▸  Baseline classifiers trained on pure Tamil-script text, not romanized/code-mixed text — cross-domain generalization untested.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▸  No GPU available — both classifiers fine-tuned on CPU; viable only because models are base-sized and dataset is small (~4-5k rows).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▸  Approach A and B have not yet been benchmarked head-to-head on the same test set (2-class vs 4-class output mismatch).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▸  LLM pipeline has only been run end-to-end on demo examples, not the full dataset yet — needs a rate-limited batch runner.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▸  Evidence ranking weights (0.5 relevance / 0.3 authority / 0.2 freshness) and the trusted-domain list are starting points, not empirically tuned.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▸  google-generativeai (Gemini SDK used) is now deprecated upstream — functional today, migration to google-genai recommended long-term.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7" name="TextBox 6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10/14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47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▸  Built two complementary, working pipelines for Tamil-English fake news detection.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▸  Approach A (fine-tuned MuRIL/IndicBERT) achieves 98-99% test accuracy on labeled headlines — fast, cheap, but static.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▸  Approach B (evidence-aware LLM pipeline) retrieves live web evidence and produces traceable, cited, explainable verdicts — demonstrated successfully on real claims.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▸  The strict separation of retrieval (never judges truth) from verdict generation (only source of truth judgment) is the key architectural contribution — enabling modular, swappable components.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▸  Both approaches are complementary rather than competing: static classification for speed/scale, evidence-grounded reasoning for trust and adaptability to new claims.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892040"/>
            <a:ext cx="10515600" cy="1371600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Bottom line: A hybrid system — fast baseline filtering + evidence-grounded LLM verification for</a:t>
            </a:r>
            <a:br/>
            <a:r>
              <a:rPr sz="1700" b="1">
                <a:solidFill>
                  <a:srgbClr val="FFFFFF"/>
                </a:solidFill>
                <a:latin typeface="Calibri"/>
              </a:rPr>
              <a:t>low-confidence or high-impact claims — is the most practical path forward for real-world deployment.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8" name="TextBox 7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11/14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47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▸  Build a rate-limited, checkpointed batch runner to push the full test set through the LLM pipeline for a rigorous head-to-head comparison.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▸  Reconcile Approach A's 2-class output with Approach B's 4-class output for a fair benchmark.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▸  Evaluate both approaches on real romanized Tanglish YouTube comments (not just formal headlines) to test true domain generalization.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▸  Tune evidence-ranking weights and expand the trusted-domain authority list empirically.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▸  Migrate the Gemini client off the deprecated google-generativeai SDK to google-genai.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▸  Explore combining both approaches: use the fast classifier as a first-pass filter, escalate uncertain/high-impact claims to the evidence-aware LLM pipeline.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7" name="TextBox 6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5A5A"/>
                </a:solidFill>
                <a:latin typeface="Calibri"/>
              </a:rPr>
              <a:t>12/14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DDEAF7"/>
                </a:solidFill>
                <a:latin typeface="Calibr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